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1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19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903873" y="3713377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3873" y="5214821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4972" y="2962655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4972" y="4464099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16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903873" y="3713377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3873" y="5214821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4972" y="2962655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4972" y="4464099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3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9688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23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903873" y="3713377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3873" y="5214821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4972" y="2962655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4972" y="4464099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4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20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903873" y="2962655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3873" y="4464099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4972" y="2211933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4972" y="3713377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5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18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903873" y="3713377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3873" y="5214821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4972" y="2962655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4972" y="4464099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6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22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903873" y="2962655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3873" y="4464099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4972" y="2211933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4972" y="3713377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7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20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903873" y="2962655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3873" y="4464099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4972" y="2211933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4972" y="3713377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8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9688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24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903873" y="3713377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3873" y="5214821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4972" y="2962655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4972" y="4464099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9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26.09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21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903873" y="2962655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3873" y="4464099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4972" y="2211933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4972" y="3713377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10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26.10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19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903873" y="3713377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3873" y="5214821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4972" y="2962655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4972" y="4464099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11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26.11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96884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23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903873" y="3713377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3873" y="5214821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4972" y="2962655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4972" y="4464099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8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39496" y="292608"/>
            <a:ext cx="1664208" cy="11978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200">
                <a:solidFill>
                  <a:srgbClr val="0061FF"/>
                </a:solidFill>
                <a:latin typeface="NanumSquare Bold"/>
              </a:rPr>
              <a:t>12</a:t>
            </a:r>
          </a:p>
        </p:txBody>
      </p:sp>
      <p:sp>
        <p:nvSpPr>
          <p:cNvPr id="3" name="Rectangle 2"/>
          <p:cNvSpPr/>
          <p:nvPr/>
        </p:nvSpPr>
        <p:spPr>
          <a:xfrm>
            <a:off x="6592824" y="256032"/>
            <a:ext cx="155448" cy="557784"/>
          </a:xfrm>
          <a:prstGeom prst="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47688" y="256032"/>
            <a:ext cx="2496312" cy="5577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48856" y="356616"/>
            <a:ext cx="249631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>
                <a:latin typeface="NanumSquare Bold"/>
              </a:rPr>
              <a:t>예산집행캘린더</a:t>
            </a:r>
          </a:p>
          <a:p>
            <a:pPr algn="l"/>
            <a:r>
              <a:rPr sz="1600">
                <a:latin typeface="NanumSquare Bold"/>
              </a:rPr>
              <a:t>26.12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453896"/>
          <a:ext cx="7964424" cy="421812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37774"/>
                <a:gridCol w="1137774"/>
                <a:gridCol w="1137774"/>
                <a:gridCol w="1137774"/>
                <a:gridCol w="1137774"/>
                <a:gridCol w="1137774"/>
                <a:gridCol w="1137780"/>
              </a:tblGrid>
              <a:tr h="464515"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D79A8"/>
                          </a:solidFill>
                          <a:latin typeface="NanumSquare Bold"/>
                        </a:rPr>
                        <a:t>Sun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Mon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Tue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Wed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Thu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Fri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000000"/>
                          </a:solidFill>
                          <a:latin typeface="NanumSquare Bold"/>
                        </a:rPr>
                        <a:t>Sat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C0D3DE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13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14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19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D79A8"/>
                          </a:solidFill>
                          <a:latin typeface="NanumSquare Bold"/>
                        </a:rPr>
                        <a:t>20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21</a:t>
                      </a:r>
                    </a:p>
                    <a:p>
                      <a:pPr algn="ctr"/>
                      <a:r>
                        <a:rPr sz="1400">
                          <a:solidFill>
                            <a:srgbClr val="000000"/>
                          </a:solidFill>
                          <a:latin typeface="NanumSquare Bold"/>
                        </a:rPr>
                        <a:t>운영위원회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22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0061FF"/>
                          </a:solidFill>
                          <a:latin typeface="NanumSquare Bold"/>
                        </a:rPr>
                        <a:t>23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24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25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26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4472C4"/>
                          </a:solidFill>
                          <a:latin typeface="NanumSquare Bold"/>
                        </a:rPr>
                        <a:t>27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  <a:tr h="750722"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FD79A8"/>
                          </a:solidFill>
                          <a:latin typeface="NanumSquare Bold"/>
                        </a:rPr>
                        <a:t>28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29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30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>
                          <a:solidFill>
                            <a:srgbClr val="000000"/>
                          </a:solidFill>
                          <a:latin typeface="NanumSquare Bold"/>
                        </a:rPr>
                        <a:t>31</a:t>
                      </a:r>
                    </a:p>
                  </a:txBody>
                  <a:tcPr anchor="t"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  <a:lnL w="19050">
                      <a:solidFill>
                        <a:srgbClr val="0061FF"/>
                      </a:solidFill>
                    </a:lnL>
                    <a:lnR w="19050">
                      <a:solidFill>
                        <a:srgbClr val="0061FF"/>
                      </a:solidFill>
                    </a:lnR>
                    <a:lnT w="19050">
                      <a:solidFill>
                        <a:srgbClr val="0061FF"/>
                      </a:solidFill>
                    </a:lnT>
                    <a:lnB w="19050">
                      <a:solidFill>
                        <a:srgbClr val="0061FF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2903873" y="2962655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03873" y="4464099"/>
            <a:ext cx="1069848" cy="320040"/>
          </a:xfrm>
          <a:prstGeom prst="roundRect">
            <a:avLst/>
          </a:prstGeom>
          <a:solidFill>
            <a:srgbClr val="006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예산집행일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54972" y="2211933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54972" y="3713377"/>
            <a:ext cx="1069848" cy="320040"/>
          </a:xfrm>
          <a:prstGeom prst="roundRect">
            <a:avLst/>
          </a:prstGeom>
          <a:solidFill>
            <a:srgbClr val="FD79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sz="1200" b="1">
                <a:solidFill>
                  <a:srgbClr val="FFFFFF"/>
                </a:solidFill>
                <a:latin typeface="NanumSquare Bold"/>
              </a:rPr>
              <a:t>결재일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6217920"/>
            <a:ext cx="731520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646464"/>
                </a:solidFill>
                <a:latin typeface="NanumSquare Bold"/>
              </a:rPr>
              <a:t>* 운영위원회의: 마지막주 전주 일요일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